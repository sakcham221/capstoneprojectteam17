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60" r:id="rId2"/>
    <p:sldId id="4421" r:id="rId3"/>
    <p:sldId id="4423" r:id="rId4"/>
    <p:sldId id="4424" r:id="rId5"/>
    <p:sldId id="4425" r:id="rId6"/>
    <p:sldId id="4426" r:id="rId7"/>
    <p:sldId id="4427" r:id="rId8"/>
    <p:sldId id="4428" r:id="rId9"/>
    <p:sldId id="4429" r:id="rId10"/>
    <p:sldId id="4430" r:id="rId11"/>
    <p:sldId id="4431" r:id="rId12"/>
    <p:sldId id="4445" r:id="rId13"/>
    <p:sldId id="4446" r:id="rId14"/>
    <p:sldId id="4447" r:id="rId15"/>
    <p:sldId id="4448" r:id="rId16"/>
    <p:sldId id="4449" r:id="rId17"/>
    <p:sldId id="4450" r:id="rId18"/>
    <p:sldId id="4433" r:id="rId19"/>
    <p:sldId id="4434" r:id="rId20"/>
    <p:sldId id="4435" r:id="rId21"/>
    <p:sldId id="4436" r:id="rId22"/>
    <p:sldId id="4438" r:id="rId23"/>
    <p:sldId id="4439" r:id="rId24"/>
    <p:sldId id="4440" r:id="rId25"/>
    <p:sldId id="4441" r:id="rId26"/>
    <p:sldId id="4442" r:id="rId27"/>
    <p:sldId id="4443" r:id="rId28"/>
    <p:sldId id="4444" r:id="rId29"/>
    <p:sldId id="4432" r:id="rId30"/>
    <p:sldId id="4422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87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874" autoAdjust="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F83ABB-A641-41B3-815B-0BF716117969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64667-E269-4945-B7C0-AD99F8954A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8914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2225B-E41B-77C0-1A23-7FE91583AB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A84B7F-BF54-53DE-5ED7-2CDED8A4B9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18E42-7938-EBF6-0BBB-C03E9825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74C66D-7C77-1BC2-E297-5581F607B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C71FE2-01D7-8CFA-F772-2A12DADA9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97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69414-E7DE-B18D-3123-DBD0283DA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EC70-B92A-CC7C-576E-A961A566DF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40CFBF-3986-2ECA-DC6E-B0EB5EEAE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622A7-D018-3314-6712-AC0A3E326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F858B-9E65-33C3-1330-DDC559B7F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14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99EF2-BE12-339C-53A6-D7F37ED5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EA9B6-8FA8-149E-9646-FB301CFB1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25791-C68A-6622-2CC5-3C0B28333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B1C5-90B9-0823-9015-AF5F09CF9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9B8B6-BAA6-240F-60BE-518B08A68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101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E3121-A2A6-067F-9BB5-431330CD0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61458-6F42-1FC6-02A5-B26BB0448D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0A9E45-D816-7EFD-3CAA-178E16FA00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4DE17-8AF8-1452-3C2B-1E8AC11C0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04EE6-8A95-F57F-A192-3DE3AA413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37B0C8-4507-0579-A941-6A255E92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83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D41E2-A077-4FE6-C0D3-E53AD769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8D9F13-A5D4-37A3-1493-299424981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5EE514-EB19-276A-D5A5-AD3B452852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4ECFBA-4BCE-DB10-1A82-A2D64F058E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FB50E7-10C2-3309-2CDC-0F66334ED7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1554FF-26AD-988B-1BE6-17295ED2C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2EB7DB9-3BFA-EEC0-380B-FF6C9131A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8BED0-2F21-3460-79B8-7290A76A4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078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70D88-D9A6-E2BA-4D07-31B2E1E8C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9C88D8-4119-A0E3-1E19-520074B60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BD6728-10D0-DD4F-070F-D8887DC40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1F0AF4-0EB8-E3C6-BC9D-0F225B0D6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913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6305AF-CB28-6234-0989-07022337F2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5B88D4-A6C0-E1B7-8994-A86076DAC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2BBE91-403E-73E0-6DB4-5910441B7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809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51ACB-DC8B-620D-E3BF-7FA852E0A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C1B764-533F-1B5D-0611-138F69934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5571B-161E-E09A-5698-4A40CFD312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D211E9-C5AE-278A-0394-D5A3F4277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A9B3E-94F2-61BE-DDC5-42C051384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52E40-E8E1-BD3E-81E3-532D7B29B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40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F0294-46E3-230A-33FB-B650A56B8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C59121-E297-856F-8ED2-F9B862BEEC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44B73E-5B9E-91E2-5353-C491A0CF95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24E462-7BB8-F752-941C-B91D00225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C8DAB4-C59B-C493-7D76-5E1C91DA5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1DC2E0-CCB3-2997-598A-4720CC284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103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79BFA-EF8F-EA09-32AE-D64B8AE7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6459FB-C2B4-23D4-5E49-19DBA37F4E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53C33-E5A3-B4F5-E8BF-0885DE881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B3BEFD-E011-F7CA-9B31-F27B73919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199C5A-F8B7-9E90-F8CD-0F9D22014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137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C63739-7054-0E76-0B25-A01771D40C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38EBE8-732F-CBA6-F8BB-30CF1BAE2D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9432A-8B6F-76F0-0D7B-30A66B962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8D616-BCA7-5689-02D1-3CA3EA884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983D8B-7730-9BA0-75AA-DC12AF5D0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253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BEEC88-9CA5-4612-35B7-82E0244A7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DCC53-C329-CE13-38A1-EB94C1E16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1CA58-D0E5-D20E-2F11-B1014BAA0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6C86BF-26DF-47F2-BBA6-FB99F1E1025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54645D-A023-304B-CF92-E94304A16A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39631-FBA3-5F80-C564-B320E69D3D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35010-364B-470B-BB6C-DCBBE63D2E54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9B860-F767-CF44-CE1F-64E3F076B1F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5678488" y="6672580"/>
            <a:ext cx="855662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General - RPS Data</a:t>
            </a:r>
          </a:p>
        </p:txBody>
      </p:sp>
    </p:spTree>
    <p:extLst>
      <p:ext uri="{BB962C8B-B14F-4D97-AF65-F5344CB8AC3E}">
        <p14:creationId xmlns:p14="http://schemas.microsoft.com/office/powerpoint/2010/main" val="3411653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87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2"/>
          <a:srcRect l="1" r="-387" b="18588"/>
          <a:stretch/>
        </p:blipFill>
        <p:spPr>
          <a:xfrm>
            <a:off x="366227" y="237669"/>
            <a:ext cx="1212311" cy="788699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366227" y="1503753"/>
            <a:ext cx="11555519" cy="9988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9425"/>
              </a:lnSpc>
              <a:spcBef>
                <a:spcPct val="0"/>
              </a:spcBef>
            </a:pPr>
            <a:r>
              <a:rPr lang="en-US" sz="28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WIPRO NGA Program – 25SUB4530_CP_JAVA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66227" y="3275236"/>
            <a:ext cx="7317941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Capstone Project Presentation – 9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&amp; 10</a:t>
            </a:r>
            <a:r>
              <a:rPr lang="en-US" sz="2400" baseline="30000" dirty="0">
                <a:solidFill>
                  <a:srgbClr val="FFFFFF"/>
                </a:solidFill>
                <a:latin typeface="HK Grotesk" pitchFamily="2" charset="77"/>
              </a:rPr>
              <a:t>th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Feb 2026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6226" y="6140450"/>
            <a:ext cx="4172935" cy="221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67"/>
              </a:lnSpc>
              <a:spcBef>
                <a:spcPct val="0"/>
              </a:spcBef>
            </a:pPr>
            <a:r>
              <a:rPr lang="en-US" sz="1333" spc="133" dirty="0">
                <a:solidFill>
                  <a:srgbClr val="FFFFFF"/>
                </a:solidFill>
                <a:latin typeface="HK Grotesk Light Bold"/>
              </a:rPr>
              <a:t>www.rpsconsulting.in</a:t>
            </a: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ED66556B-B256-8D8D-E60E-0C5895B5FFA5}"/>
              </a:ext>
            </a:extLst>
          </p:cNvPr>
          <p:cNvSpPr txBox="1"/>
          <p:nvPr/>
        </p:nvSpPr>
        <p:spPr>
          <a:xfrm>
            <a:off x="366226" y="4353606"/>
            <a:ext cx="6780319" cy="11392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Presented by – S M Siddharth &amp; </a:t>
            </a:r>
            <a:r>
              <a:rPr lang="en-US" sz="2400" dirty="0" err="1">
                <a:solidFill>
                  <a:srgbClr val="FFFFFF"/>
                </a:solidFill>
                <a:latin typeface="HK Grotesk" pitchFamily="2" charset="77"/>
              </a:rPr>
              <a:t>Sakcham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Singh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endParaRPr lang="en-US" sz="2400" dirty="0">
              <a:solidFill>
                <a:srgbClr val="FFFFFF"/>
              </a:solidFill>
              <a:latin typeface="HK Grotesk" pitchFamily="2" charset="77"/>
            </a:endParaRP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Team No –  17</a:t>
            </a:r>
          </a:p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 </a:t>
            </a:r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21F87AA7-2FEF-9248-CC8B-6951622F8F14}"/>
              </a:ext>
            </a:extLst>
          </p:cNvPr>
          <p:cNvSpPr txBox="1"/>
          <p:nvPr/>
        </p:nvSpPr>
        <p:spPr>
          <a:xfrm>
            <a:off x="366226" y="3814421"/>
            <a:ext cx="7317941" cy="29283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239"/>
              </a:lnSpc>
              <a:spcBef>
                <a:spcPct val="0"/>
              </a:spcBef>
            </a:pP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Project Title – Banking Account </a:t>
            </a:r>
            <a:r>
              <a:rPr lang="en-US" sz="2400" dirty="0" smtClean="0">
                <a:solidFill>
                  <a:srgbClr val="FFFFFF"/>
                </a:solidFill>
                <a:latin typeface="HK Grotesk" pitchFamily="2" charset="77"/>
              </a:rPr>
              <a:t> Management </a:t>
            </a:r>
            <a:r>
              <a:rPr lang="en-US" sz="2400" dirty="0">
                <a:solidFill>
                  <a:srgbClr val="FFFFFF"/>
                </a:solidFill>
                <a:latin typeface="HK Grotesk" pitchFamily="2" charset="77"/>
              </a:rPr>
              <a:t>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B7AE17-255B-EFAF-AB19-35D5726D4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FE3526C0-0D62-E999-846D-539DB0F96A06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dirty="0">
                <a:solidFill>
                  <a:srgbClr val="0187CC"/>
                </a:solidFill>
                <a:latin typeface="HK Grotesk" pitchFamily="2" charset="77"/>
              </a:rPr>
              <a:t> </a:t>
            </a:r>
            <a:r>
              <a:rPr lang="en-US" sz="3200" b="1" dirty="0">
                <a:solidFill>
                  <a:srgbClr val="0187CC"/>
                </a:solidFill>
                <a:latin typeface="HK Grotesk" pitchFamily="2" charset="77"/>
              </a:rPr>
              <a:t>Banking Management System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CE32E4E7-27A9-CE4B-8AB0-AA5E86AA8E4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3222EB71-F821-F852-BAE8-F9C461EA6C9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4C8-542D-6BAC-F31C-291E314E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834CDC-2435-88E7-E908-66FF8BBA8773}"/>
              </a:ext>
            </a:extLst>
          </p:cNvPr>
          <p:cNvSpPr txBox="1"/>
          <p:nvPr/>
        </p:nvSpPr>
        <p:spPr>
          <a:xfrm>
            <a:off x="370480" y="1336989"/>
            <a:ext cx="102150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187CC"/>
                </a:solidFill>
                <a:latin typeface="HK Grotesk"/>
              </a:rPr>
              <a:t>Introduction :  </a:t>
            </a:r>
          </a:p>
          <a:p>
            <a:pPr algn="just"/>
            <a:endParaRPr lang="en-US" sz="2600" dirty="0">
              <a:solidFill>
                <a:srgbClr val="0187CC"/>
              </a:solidFill>
              <a:latin typeface="HK Grotesk"/>
            </a:endParaRPr>
          </a:p>
          <a:p>
            <a:pPr algn="just"/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Efficiently managing bank accounts and financial records is a core requirement for modern banking. Manual record-keeping is slow and prone to errors.</a:t>
            </a:r>
          </a:p>
          <a:p>
            <a:pPr algn="just"/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HK Grotesk"/>
            </a:endParaRPr>
          </a:p>
          <a:p>
            <a:pPr algn="just"/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The Banking Account Management System is a streamlined digital solution that allows administrators to create customer profiles, manage accounts, and handle daily transactions with precision.</a:t>
            </a:r>
          </a:p>
          <a:p>
            <a:pPr algn="just"/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  <a:latin typeface="HK Grotesk"/>
            </a:endParaRPr>
          </a:p>
          <a:p>
            <a:pPr algn="just"/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The application features a clean Angular dashboard, providing instant access to account details and automated balance calculations for improved accuracy.</a:t>
            </a:r>
          </a:p>
        </p:txBody>
      </p:sp>
    </p:spTree>
    <p:extLst>
      <p:ext uri="{BB962C8B-B14F-4D97-AF65-F5344CB8AC3E}">
        <p14:creationId xmlns:p14="http://schemas.microsoft.com/office/powerpoint/2010/main" val="4051022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A091C-168D-5FC3-D339-546BE60EA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1B56E79C-7608-5079-71EE-E369999E4780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" pitchFamily="2" charset="77"/>
              </a:rPr>
              <a:t>Banking Management System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E5BC34F5-B069-9B1F-ACE8-5989A65B4DB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FE2F882-249E-B2BB-1E64-972DFD7B6FB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CA7E62-E13E-39EF-F2F7-1D6E3BC2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3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0A7ED-24C7-388E-338D-DE7A3B367DED}"/>
              </a:ext>
            </a:extLst>
          </p:cNvPr>
          <p:cNvSpPr txBox="1"/>
          <p:nvPr/>
        </p:nvSpPr>
        <p:spPr>
          <a:xfrm>
            <a:off x="273075" y="1365173"/>
            <a:ext cx="10216148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Problem Statement :</a:t>
            </a:r>
          </a:p>
          <a:p>
            <a:pPr algn="just"/>
            <a:endParaRPr lang="en-US" sz="2800" b="1" dirty="0">
              <a:solidFill>
                <a:schemeClr val="tx2">
                  <a:lumMod val="50000"/>
                  <a:lumOff val="50000"/>
                </a:schemeClr>
              </a:solidFill>
              <a:latin typeface="HK Grotesk"/>
            </a:endParaRP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In the Banking domain, organizations face several challenges, such as:</a:t>
            </a: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 Inaccurate manual entry of customer account details.</a:t>
            </a: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 Significant delays in retrieving customer transaction history.</a:t>
            </a: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 Lack of real-time balance updates after deposits or withdrawals.</a:t>
            </a: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 Absence of a centralized platform to monitor all customer accounts simultaneously.</a:t>
            </a: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 Difficulty in maintaining data integrity across large datasets.</a:t>
            </a: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--A robust, automated system is essential to ensure reliability and speed in banking services.</a:t>
            </a:r>
          </a:p>
        </p:txBody>
      </p:sp>
    </p:spTree>
    <p:extLst>
      <p:ext uri="{BB962C8B-B14F-4D97-AF65-F5344CB8AC3E}">
        <p14:creationId xmlns:p14="http://schemas.microsoft.com/office/powerpoint/2010/main" val="31718934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B18B4-C130-3E45-8799-0D7DDF1C7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6344A307-05CF-692C-12A7-08EA1E4157F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" pitchFamily="2" charset="77"/>
              </a:rPr>
              <a:t>Banking Management System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6E64066-056B-7C63-FEED-B3E68116FCF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AC4D4D40-F5CD-C6D5-325F-2BD6BDF01E9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FAA27-930D-318B-527C-A85FF2DFD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4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626D46-D3EC-5ADB-4421-C6D0471837AF}"/>
              </a:ext>
            </a:extLst>
          </p:cNvPr>
          <p:cNvSpPr txBox="1"/>
          <p:nvPr/>
        </p:nvSpPr>
        <p:spPr>
          <a:xfrm>
            <a:off x="273075" y="1105287"/>
            <a:ext cx="1021509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Objective :</a:t>
            </a:r>
          </a:p>
          <a:p>
            <a:pPr algn="just"/>
            <a:endParaRPr lang="en-US" sz="2000" dirty="0">
              <a:solidFill>
                <a:schemeClr val="tx2">
                  <a:lumMod val="50000"/>
                  <a:lumOff val="50000"/>
                </a:schemeClr>
              </a:solidFill>
              <a:latin typeface="HK Grotesk"/>
            </a:endParaRPr>
          </a:p>
          <a:p>
            <a:pPr algn="just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Primary Objectives</a:t>
            </a:r>
          </a:p>
          <a:p>
            <a:pPr algn="just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-- </a:t>
            </a: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Develop a secure web portal for managing customer banking data.</a:t>
            </a: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 Implement real-time transaction processing for Deposits and Withdrawals.</a:t>
            </a: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 Provide a centralized dashboard for quick account lookups and status monitoring</a:t>
            </a:r>
          </a:p>
          <a:p>
            <a:pPr algn="just"/>
            <a:endParaRPr lang="en-US" sz="2200" dirty="0">
              <a:solidFill>
                <a:schemeClr val="tx2">
                  <a:lumMod val="50000"/>
                  <a:lumOff val="50000"/>
                </a:schemeClr>
              </a:solidFill>
              <a:latin typeface="HK Grotesk"/>
            </a:endParaRP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4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Secondary Objectives</a:t>
            </a:r>
          </a:p>
          <a:p>
            <a:pPr algn="just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-- </a:t>
            </a:r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Ensure high availability and reliability using Azure Cloud hosting.</a:t>
            </a: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 Maintain detailed transaction logs for auditing and history tracking.</a:t>
            </a:r>
          </a:p>
          <a:p>
            <a:pPr algn="just"/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 Build a responsive UI that works across different screen sizes.</a:t>
            </a:r>
          </a:p>
          <a:p>
            <a:endParaRPr lang="en-US" sz="20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1739798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A9B431-E3C0-B491-C8E0-4C2D3C5C8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DF91C489-23B9-1049-44B9-35571832E629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" pitchFamily="2" charset="77"/>
              </a:rPr>
              <a:t>Banking Management System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055AFBB-00B4-6FC1-9153-BEBCC3EEBEF6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EE78DA85-8EFA-9397-2ECB-D33025227FA8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D080BE-64F3-56C6-EA5B-64436A05F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5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5CAD24E-501E-69F7-B8CF-F891EDE7EB58}"/>
              </a:ext>
            </a:extLst>
          </p:cNvPr>
          <p:cNvSpPr txBox="1"/>
          <p:nvPr/>
        </p:nvSpPr>
        <p:spPr>
          <a:xfrm>
            <a:off x="273075" y="1043731"/>
            <a:ext cx="10215094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187CC"/>
                </a:solidFill>
                <a:latin typeface="HK Grotesk"/>
              </a:rPr>
              <a:t>Key Features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The system provides the following features:</a:t>
            </a:r>
          </a:p>
          <a:p>
            <a:endParaRPr lang="en-US" sz="2400" dirty="0">
              <a:solidFill>
                <a:srgbClr val="0187CC"/>
              </a:solidFill>
              <a:latin typeface="HK Grotesk"/>
            </a:endParaRPr>
          </a:p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--Customers can register using a simple form</a:t>
            </a:r>
          </a:p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--System checks and validates entered details</a:t>
            </a:r>
          </a:p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--Users can deposit or withdraw money instantly</a:t>
            </a:r>
          </a:p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--Each transaction is recorded automatically</a:t>
            </a:r>
          </a:p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--Transaction history is shown with date and reference ID</a:t>
            </a:r>
          </a:p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--Account balance updates immediately after each transaction</a:t>
            </a:r>
          </a:p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--Users can search and filter customer accounts easily</a:t>
            </a:r>
          </a:p>
          <a:p>
            <a:r>
              <a:rPr lang="en-US" sz="2400" dirty="0">
                <a:solidFill>
                  <a:srgbClr val="0187CC"/>
                </a:solidFill>
                <a:latin typeface="HK Grotesk"/>
              </a:rPr>
              <a:t>-- System shows success or error messages for every action</a:t>
            </a:r>
          </a:p>
        </p:txBody>
      </p:sp>
    </p:spTree>
    <p:extLst>
      <p:ext uri="{BB962C8B-B14F-4D97-AF65-F5344CB8AC3E}">
        <p14:creationId xmlns:p14="http://schemas.microsoft.com/office/powerpoint/2010/main" val="3356219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0A6AC-78AB-D67D-D5E0-E33825593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B749F1C0-4BC9-FFF4-12DE-887EBE5C558B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" pitchFamily="2" charset="77"/>
              </a:rPr>
              <a:t>Banking Management System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336C2F7-30B6-8534-7C7B-4D803914806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93D0A06E-6EC5-632C-0D94-62C862E9E86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A2E73-58CC-3D61-4F0C-844B6D9F6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6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E8EAC2-3AA3-9B43-D8CA-8724A7EC8117}"/>
              </a:ext>
            </a:extLst>
          </p:cNvPr>
          <p:cNvSpPr txBox="1"/>
          <p:nvPr/>
        </p:nvSpPr>
        <p:spPr>
          <a:xfrm>
            <a:off x="273075" y="833365"/>
            <a:ext cx="10215094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187CC"/>
                </a:solidFill>
                <a:latin typeface="HK Grotesk"/>
              </a:rPr>
              <a:t>System Architecture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The application follows a 3-tier architecture: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#Presentation Layer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--Angular frontend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--User interface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--Displays policies data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#Application Layer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--Spring Boot backend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--REST APIs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#Data Layer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--MySQL database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--Stores Policies and categories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005F47-F1E4-3DB9-44C7-0F869AA81875}"/>
              </a:ext>
            </a:extLst>
          </p:cNvPr>
          <p:cNvSpPr txBox="1"/>
          <p:nvPr/>
        </p:nvSpPr>
        <p:spPr>
          <a:xfrm>
            <a:off x="3336758" y="2770632"/>
            <a:ext cx="812981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Flow :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IN" dirty="0">
                <a:solidFill>
                  <a:srgbClr val="0187CC"/>
                </a:solidFill>
              </a:rPr>
              <a:t>User → Angular UI → Spring Boot API → Database → Spring Boot → Angular UI → User</a:t>
            </a:r>
          </a:p>
        </p:txBody>
      </p:sp>
    </p:spTree>
    <p:extLst>
      <p:ext uri="{BB962C8B-B14F-4D97-AF65-F5344CB8AC3E}">
        <p14:creationId xmlns:p14="http://schemas.microsoft.com/office/powerpoint/2010/main" val="650589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4ADE4-5CF7-B06C-F009-2287FB609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6BAABD5-C549-22A3-8829-85FB491FACC2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" pitchFamily="2" charset="77"/>
              </a:rPr>
              <a:t>Banking Management System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FB9D9155-CCC0-E98A-80FD-28F09D0DB541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DEE71A31-6039-2AD1-3CFA-0F8750DAAB99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1DDCB0-96B9-047E-CDAC-6C7ACEACD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7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D56045-C8C8-F3A5-EAC7-868147A9102F}"/>
              </a:ext>
            </a:extLst>
          </p:cNvPr>
          <p:cNvSpPr txBox="1"/>
          <p:nvPr/>
        </p:nvSpPr>
        <p:spPr>
          <a:xfrm>
            <a:off x="273075" y="1046842"/>
            <a:ext cx="1021509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187CC"/>
                </a:solidFill>
                <a:latin typeface="HK Grotesk"/>
              </a:rPr>
              <a:t>Technology Stack :</a:t>
            </a:r>
          </a:p>
          <a:p>
            <a:r>
              <a:rPr lang="en-US" sz="2800" dirty="0">
                <a:solidFill>
                  <a:srgbClr val="0187CC"/>
                </a:solidFill>
                <a:latin typeface="HK Grotesk"/>
              </a:rPr>
              <a:t> </a:t>
            </a: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#Frontend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--Angular framework</a:t>
            </a:r>
          </a:p>
          <a:p>
            <a:r>
              <a:rPr lang="en-US" dirty="0" smtClean="0">
                <a:solidFill>
                  <a:srgbClr val="0187CC"/>
                </a:solidFill>
                <a:latin typeface="HK Grotesk"/>
              </a:rPr>
              <a:t>--</a:t>
            </a:r>
            <a:r>
              <a:rPr lang="en-US" dirty="0">
                <a:solidFill>
                  <a:srgbClr val="0187CC"/>
                </a:solidFill>
                <a:latin typeface="HK Grotesk"/>
              </a:rPr>
              <a:t>HTML, CSS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--Angular services for API calls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u="sng" dirty="0">
                <a:solidFill>
                  <a:srgbClr val="0187CC"/>
                </a:solidFill>
                <a:latin typeface="HK Grotesk"/>
              </a:rPr>
              <a:t>#Backend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--Spring Boot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--Spring Data JPA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--REST API architecture</a:t>
            </a:r>
          </a:p>
          <a:p>
            <a:r>
              <a:rPr lang="en-US" dirty="0">
                <a:solidFill>
                  <a:srgbClr val="0187CC"/>
                </a:solidFill>
                <a:latin typeface="HK Grotesk"/>
              </a:rPr>
              <a:t>--Maven build tool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A717E6-A39E-BAF1-AF72-803D2F57C345}"/>
              </a:ext>
            </a:extLst>
          </p:cNvPr>
          <p:cNvSpPr txBox="1"/>
          <p:nvPr/>
        </p:nvSpPr>
        <p:spPr>
          <a:xfrm>
            <a:off x="4914277" y="2223909"/>
            <a:ext cx="739264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u="sng" dirty="0">
                <a:solidFill>
                  <a:srgbClr val="0187CC"/>
                </a:solidFill>
              </a:rPr>
              <a:t>#Database</a:t>
            </a: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dirty="0">
                <a:solidFill>
                  <a:srgbClr val="0187CC"/>
                </a:solidFill>
              </a:rPr>
              <a:t>--</a:t>
            </a:r>
            <a:r>
              <a:rPr lang="en-IN" dirty="0" smtClean="0">
                <a:solidFill>
                  <a:srgbClr val="0187CC"/>
                </a:solidFill>
              </a:rPr>
              <a:t>MySQL</a:t>
            </a:r>
            <a:endParaRPr lang="en-IN" dirty="0">
              <a:solidFill>
                <a:srgbClr val="0187CC"/>
              </a:solidFill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u="sng" dirty="0">
                <a:solidFill>
                  <a:srgbClr val="0187CC"/>
                </a:solidFill>
              </a:rPr>
              <a:t>#DevOps</a:t>
            </a:r>
          </a:p>
          <a:p>
            <a:endParaRPr lang="en-IN" dirty="0">
              <a:solidFill>
                <a:srgbClr val="0187CC"/>
              </a:solidFill>
            </a:endParaRPr>
          </a:p>
          <a:p>
            <a:r>
              <a:rPr lang="en-IN" dirty="0">
                <a:solidFill>
                  <a:srgbClr val="0187CC"/>
                </a:solidFill>
              </a:rPr>
              <a:t>--Docker for containerization</a:t>
            </a:r>
          </a:p>
          <a:p>
            <a:r>
              <a:rPr lang="en-IN" dirty="0">
                <a:solidFill>
                  <a:srgbClr val="0187CC"/>
                </a:solidFill>
              </a:rPr>
              <a:t>--Azure App Service for hosting</a:t>
            </a:r>
          </a:p>
        </p:txBody>
      </p:sp>
    </p:spTree>
    <p:extLst>
      <p:ext uri="{BB962C8B-B14F-4D97-AF65-F5344CB8AC3E}">
        <p14:creationId xmlns:p14="http://schemas.microsoft.com/office/powerpoint/2010/main" val="1664567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19559-DB4C-CA6D-4905-72117E19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3DE16B0-C7E6-E527-797B-D2D085A2A4F8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" pitchFamily="2" charset="77"/>
              </a:rPr>
              <a:t>Banking Management System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A827428F-E01C-2CAA-05D2-3C3E376E99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7F764433-E0FC-8896-2E62-B4F3033FC8BD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96954-6EAC-168D-D0D1-4F741628A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8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314A21-333E-382A-23AF-A5F34BA1D0DC}"/>
              </a:ext>
            </a:extLst>
          </p:cNvPr>
          <p:cNvSpPr txBox="1"/>
          <p:nvPr/>
        </p:nvSpPr>
        <p:spPr>
          <a:xfrm>
            <a:off x="334797" y="903126"/>
            <a:ext cx="10922287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>
                <a:solidFill>
                  <a:srgbClr val="0187CC"/>
                </a:solidFill>
                <a:latin typeface="HK Grotesk"/>
              </a:rPr>
              <a:t>Function Module : </a:t>
            </a:r>
            <a:endParaRPr lang="en-US" sz="2800" b="1" dirty="0">
              <a:solidFill>
                <a:srgbClr val="0187CC"/>
              </a:solidFill>
              <a:latin typeface="HK Grotesk"/>
            </a:endParaRPr>
          </a:p>
          <a:p>
            <a:r>
              <a:rPr lang="en-IN" sz="2200" b="1" dirty="0">
                <a:solidFill>
                  <a:srgbClr val="0187CC"/>
                </a:solidFill>
                <a:latin typeface="HK Grotesk"/>
              </a:rPr>
              <a:t>1. Customer Management Module: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Customer Registration &amp; Profile Management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--View and Update Customer Details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b="1" dirty="0">
                <a:solidFill>
                  <a:srgbClr val="0187CC"/>
                </a:solidFill>
                <a:latin typeface="HK Grotesk"/>
              </a:rPr>
              <a:t>2.</a:t>
            </a:r>
            <a:r>
              <a:rPr lang="en-IN" sz="2200" b="1" dirty="0">
                <a:solidFill>
                  <a:srgbClr val="0187CC"/>
                </a:solidFill>
                <a:latin typeface="HK Grotesk"/>
              </a:rPr>
              <a:t> Transaction Management Module: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IN" sz="2200" dirty="0">
                <a:solidFill>
                  <a:srgbClr val="0187CC"/>
                </a:solidFill>
                <a:latin typeface="HK Grotesk"/>
              </a:rPr>
              <a:t>-- Deposit &amp; Withdrawal Processing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 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Balance Validation</a:t>
            </a:r>
          </a:p>
          <a:p>
            <a:r>
              <a:rPr lang="en-IN" sz="2200" dirty="0">
                <a:solidFill>
                  <a:srgbClr val="0187CC"/>
                </a:solidFill>
                <a:latin typeface="HK Grotesk"/>
              </a:rPr>
              <a:t>-- Transaction Metadata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b="1" dirty="0">
                <a:solidFill>
                  <a:srgbClr val="0187CC"/>
                </a:solidFill>
                <a:latin typeface="HK Grotesk"/>
              </a:rPr>
              <a:t>3.</a:t>
            </a:r>
            <a:r>
              <a:rPr lang="en-IN" sz="2200" b="1" dirty="0">
                <a:solidFill>
                  <a:srgbClr val="0187CC"/>
                </a:solidFill>
                <a:latin typeface="HK Grotesk"/>
              </a:rPr>
              <a:t> Account Assignment Module: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Link Accounts to Customers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Maintain Ownership Records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C1CF04-AE32-EBC7-FF07-FFAB78A78E85}"/>
              </a:ext>
            </a:extLst>
          </p:cNvPr>
          <p:cNvSpPr txBox="1"/>
          <p:nvPr/>
        </p:nvSpPr>
        <p:spPr>
          <a:xfrm>
            <a:off x="6289543" y="903126"/>
            <a:ext cx="538494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b="1" dirty="0">
                <a:solidFill>
                  <a:srgbClr val="0187CC"/>
                </a:solidFill>
                <a:latin typeface="HK Grotesk"/>
              </a:rPr>
              <a:t>4. </a:t>
            </a:r>
            <a:r>
              <a:rPr lang="en-IN" sz="2200" b="1" dirty="0">
                <a:solidFill>
                  <a:srgbClr val="0187CC"/>
                </a:solidFill>
                <a:latin typeface="HK Grotesk"/>
              </a:rPr>
              <a:t>Transaction Tracking Module: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--Track Policy Status(Active, Pending, Expired)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--Monitor Account Lifecycle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b="1" dirty="0">
                <a:solidFill>
                  <a:srgbClr val="0187CC"/>
                </a:solidFill>
                <a:latin typeface="HK Grotesk"/>
              </a:rPr>
              <a:t>5.</a:t>
            </a:r>
            <a:r>
              <a:rPr lang="en-IN" sz="2200" b="1" dirty="0">
                <a:solidFill>
                  <a:srgbClr val="0187CC"/>
                </a:solidFill>
                <a:latin typeface="HK Grotesk"/>
              </a:rPr>
              <a:t> Statement &amp; History Management Module:</a:t>
            </a:r>
          </a:p>
          <a:p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r>
              <a:rPr lang="en-IN" sz="2200" dirty="0">
                <a:solidFill>
                  <a:srgbClr val="0187CC"/>
                </a:solidFill>
                <a:latin typeface="HK Grotesk"/>
              </a:rPr>
              <a:t>-- Generate Transaction History</a:t>
            </a:r>
          </a:p>
          <a:p>
            <a:r>
              <a:rPr lang="en-IN" sz="2200" dirty="0">
                <a:solidFill>
                  <a:srgbClr val="0187CC"/>
                </a:solidFill>
                <a:latin typeface="HK Grotesk"/>
              </a:rPr>
              <a:t>-- Account Summaries</a:t>
            </a:r>
          </a:p>
          <a:p>
            <a:pPr marL="342900" indent="-342900">
              <a:buFont typeface="Wingdings" panose="05000000000000000000" pitchFamily="2" charset="2"/>
              <a:buChar char="n"/>
            </a:pPr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r>
              <a:rPr lang="en-IN" sz="2200" b="1" dirty="0">
                <a:solidFill>
                  <a:srgbClr val="0187CC"/>
                </a:solidFill>
                <a:latin typeface="HK Grotesk"/>
              </a:rPr>
              <a:t>6. Audit &amp; Log Management Module:</a:t>
            </a:r>
          </a:p>
          <a:p>
            <a:endParaRPr lang="en-IN" sz="2200" dirty="0">
              <a:solidFill>
                <a:srgbClr val="0187CC"/>
              </a:solidFill>
              <a:latin typeface="HK Grotesk"/>
            </a:endParaRPr>
          </a:p>
          <a:p>
            <a:r>
              <a:rPr lang="en-IN" sz="2200" dirty="0">
                <a:solidFill>
                  <a:srgbClr val="0187CC"/>
                </a:solidFill>
                <a:latin typeface="HK Grotesk"/>
              </a:rPr>
              <a:t>-- History Tracking</a:t>
            </a:r>
          </a:p>
          <a:p>
            <a:r>
              <a:rPr lang="en-IN" sz="2200" dirty="0">
                <a:solidFill>
                  <a:srgbClr val="0187CC"/>
                </a:solidFill>
                <a:latin typeface="HK Grotesk"/>
              </a:rPr>
              <a:t>-- Status History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35462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621EE9-0C6D-C8E9-1903-7779827D3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7AD77AD-3BDE-6EF1-31C1-EEFB238AE1B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" pitchFamily="2" charset="77"/>
              </a:rPr>
              <a:t>Banking Management System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D5A89395-3352-23F0-A366-1F7E99503672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F445C0ED-9FBA-C61B-EC4B-661181852176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82FB44-8836-77C3-655E-60745FEA3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41E2B-34F1-7ADF-9ECB-65428E2ACC2D}"/>
              </a:ext>
            </a:extLst>
          </p:cNvPr>
          <p:cNvSpPr txBox="1"/>
          <p:nvPr/>
        </p:nvSpPr>
        <p:spPr>
          <a:xfrm>
            <a:off x="341376" y="766147"/>
            <a:ext cx="6109437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>
                <a:solidFill>
                  <a:srgbClr val="0187CC"/>
                </a:solidFill>
                <a:latin typeface="HK Grotesk"/>
              </a:rPr>
              <a:t>User Interface</a:t>
            </a:r>
            <a:r>
              <a:rPr lang="en-US" sz="2800" b="1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b="1" dirty="0">
                <a:solidFill>
                  <a:srgbClr val="0187CC"/>
                </a:solidFill>
                <a:latin typeface="HK Grotesk"/>
              </a:rPr>
              <a:t>The Angular frontend provides: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--Dashboard page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Account Creation &amp; Management Pages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Transaction Interface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Transaction History View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--Account status tracking (Active / Pending /Expired) 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Account Summary Section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Real-time Balance Section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The UI updates in real time when accounts are created or transactions (deposits/withdrawals) are processed.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6FDEB6-AA57-87FC-1F3D-166464ABC4FD}"/>
              </a:ext>
            </a:extLst>
          </p:cNvPr>
          <p:cNvSpPr txBox="1"/>
          <p:nvPr/>
        </p:nvSpPr>
        <p:spPr>
          <a:xfrm>
            <a:off x="7132320" y="766147"/>
            <a:ext cx="471830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u="sng" dirty="0">
                <a:solidFill>
                  <a:srgbClr val="0187CC"/>
                </a:solidFill>
                <a:latin typeface="HK Grotesk"/>
              </a:rPr>
              <a:t>Application Workflow</a:t>
            </a:r>
            <a:r>
              <a:rPr lang="en-US" sz="2200" b="1" dirty="0">
                <a:solidFill>
                  <a:srgbClr val="0187CC"/>
                </a:solidFill>
                <a:latin typeface="HK Grotesk"/>
              </a:rPr>
              <a:t>: 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b="1" dirty="0">
                <a:solidFill>
                  <a:srgbClr val="0187CC"/>
                </a:solidFill>
                <a:latin typeface="HK Grotesk"/>
              </a:rPr>
              <a:t>User opens application: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Admin manages customer and bank account details.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Data is sent to backend API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Backend validates and stores data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Account balance or transaction status is updated instantly.</a:t>
            </a:r>
          </a:p>
          <a:p>
            <a:pPr marL="457200" indent="-457200">
              <a:buAutoNum type="arabicPeriod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Dashboard updates</a:t>
            </a:r>
          </a:p>
          <a:p>
            <a:pPr marL="457200" indent="-457200">
              <a:buAutoNum type="arabicPeriod" startAt="6"/>
            </a:pPr>
            <a:r>
              <a:rPr lang="en-US" sz="2200" dirty="0">
                <a:solidFill>
                  <a:srgbClr val="0187CC"/>
                </a:solidFill>
                <a:latin typeface="HK Grotesk"/>
              </a:rPr>
              <a:t>Admin views details and status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This ensures smooth and efficient Banking Account Management.</a:t>
            </a:r>
          </a:p>
        </p:txBody>
      </p:sp>
    </p:spTree>
    <p:extLst>
      <p:ext uri="{BB962C8B-B14F-4D97-AF65-F5344CB8AC3E}">
        <p14:creationId xmlns:p14="http://schemas.microsoft.com/office/powerpoint/2010/main" val="4289624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39BEB-46E2-3A47-D432-832CB4270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3217F1C0-B65D-7DA3-6109-D1EA154FFE13}"/>
              </a:ext>
            </a:extLst>
          </p:cNvPr>
          <p:cNvSpPr/>
          <p:nvPr/>
        </p:nvSpPr>
        <p:spPr>
          <a:xfrm>
            <a:off x="273075" y="209670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" pitchFamily="2" charset="77"/>
              </a:rPr>
              <a:t>Banking Management System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4FDCA76D-172C-BBD6-4C5A-C1983EF68CA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0D2DA84B-2E7C-C4F8-0225-232350D35A1F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928BF-626A-8FB9-2751-56F873A15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10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EDA94C-2EA1-68F7-3C5E-833EA575C4A7}"/>
              </a:ext>
            </a:extLst>
          </p:cNvPr>
          <p:cNvSpPr txBox="1"/>
          <p:nvPr/>
        </p:nvSpPr>
        <p:spPr>
          <a:xfrm>
            <a:off x="273075" y="1354573"/>
            <a:ext cx="10215094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u="sng" dirty="0">
                <a:solidFill>
                  <a:srgbClr val="0187CC"/>
                </a:solidFill>
                <a:latin typeface="HK Grotesk"/>
              </a:rPr>
              <a:t>DevOps &amp; Deployment : 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b="1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187CC"/>
                </a:solidFill>
                <a:latin typeface="HK Grotesk"/>
              </a:rPr>
              <a:t>Docker: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--Containerizes </a:t>
            </a:r>
            <a:r>
              <a:rPr lang="en-US" sz="2200" dirty="0" smtClean="0">
                <a:solidFill>
                  <a:srgbClr val="0187CC"/>
                </a:solidFill>
                <a:latin typeface="HK Grotesk"/>
              </a:rPr>
              <a:t>backend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--Ensures consistent environment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b="1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187CC"/>
                </a:solidFill>
                <a:latin typeface="HK Grotesk"/>
              </a:rPr>
              <a:t>Azure: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--Hosts backend </a:t>
            </a:r>
            <a:r>
              <a:rPr lang="en-US" sz="2200" dirty="0" smtClean="0">
                <a:solidFill>
                  <a:srgbClr val="0187CC"/>
                </a:solidFill>
                <a:latin typeface="HK Grotesk"/>
              </a:rPr>
              <a:t>APIs</a:t>
            </a:r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--Supports scalability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987D61-E83D-D800-7B73-C32639648509}"/>
              </a:ext>
            </a:extLst>
          </p:cNvPr>
          <p:cNvSpPr txBox="1"/>
          <p:nvPr/>
        </p:nvSpPr>
        <p:spPr>
          <a:xfrm>
            <a:off x="7080565" y="2244060"/>
            <a:ext cx="4273235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>
                <a:solidFill>
                  <a:srgbClr val="0187CC"/>
                </a:solidFill>
                <a:latin typeface="HK Grotesk"/>
                <a:sym typeface="Wingdings" panose="05000000000000000000" pitchFamily="2" charset="2"/>
              </a:rPr>
              <a:t></a:t>
            </a:r>
            <a:r>
              <a:rPr lang="en-US" sz="2200" b="1" dirty="0">
                <a:solidFill>
                  <a:srgbClr val="0187CC"/>
                </a:solidFill>
                <a:latin typeface="HK Grotesk"/>
              </a:rPr>
              <a:t>Benefits:</a:t>
            </a: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--Easy deployment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--Cloud hosting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--High availability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1420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1D041-A6CF-59BE-694E-DDBD11058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4EFAA31A-3B8E-6857-8A1C-0C1D01D820D1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" pitchFamily="2" charset="77"/>
              </a:rPr>
              <a:t>Banking Management System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61CCCBFA-4DDE-0370-2D88-8D3E36D3D45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E56F6A9-9BDB-AAC3-8A8F-7113FC54359B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EBBF14-C5F4-3150-0A04-82EFD02BC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11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E13BA2-C8CF-08D0-9740-63779D5CB465}"/>
              </a:ext>
            </a:extLst>
          </p:cNvPr>
          <p:cNvSpPr txBox="1"/>
          <p:nvPr/>
        </p:nvSpPr>
        <p:spPr>
          <a:xfrm>
            <a:off x="273075" y="1366897"/>
            <a:ext cx="10215094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 dirty="0">
                <a:solidFill>
                  <a:srgbClr val="0187CC"/>
                </a:solidFill>
                <a:latin typeface="HK Grotesk"/>
              </a:rPr>
              <a:t>Advantages &amp; Limitations : </a:t>
            </a:r>
          </a:p>
          <a:p>
            <a:endParaRPr lang="en-US" b="1" dirty="0">
              <a:solidFill>
                <a:srgbClr val="0187CC"/>
              </a:solidFill>
              <a:latin typeface="HK Grotesk"/>
            </a:endParaRPr>
          </a:p>
          <a:p>
            <a:endParaRPr lang="en-US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b="1" dirty="0">
                <a:solidFill>
                  <a:srgbClr val="0187CC"/>
                </a:solidFill>
                <a:latin typeface="HK Grotesk"/>
              </a:rPr>
              <a:t>Advantages : 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--Easy to use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--Saves time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Reduces paperwork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Data is stored safely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</a:t>
            </a:r>
            <a:r>
              <a:rPr lang="en-IN" sz="2200" dirty="0">
                <a:solidFill>
                  <a:srgbClr val="0187CC"/>
                </a:solidFill>
                <a:latin typeface="HK Grotesk"/>
              </a:rPr>
              <a:t>Status updates are fast</a:t>
            </a:r>
          </a:p>
          <a:p>
            <a:r>
              <a:rPr lang="en-IN" sz="2200" dirty="0">
                <a:solidFill>
                  <a:srgbClr val="0187CC"/>
                </a:solidFill>
                <a:latin typeface="HK Grotesk"/>
              </a:rPr>
              <a:t>--Centralized data storage</a:t>
            </a:r>
          </a:p>
          <a:p>
            <a:r>
              <a:rPr lang="en-IN" sz="2200" dirty="0">
                <a:solidFill>
                  <a:srgbClr val="0187CC"/>
                </a:solidFill>
                <a:latin typeface="HK Grotesk"/>
              </a:rPr>
              <a:t>--Accessible from anywhere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5BDECF-DA5C-267A-B43B-B230A3F04773}"/>
              </a:ext>
            </a:extLst>
          </p:cNvPr>
          <p:cNvSpPr txBox="1"/>
          <p:nvPr/>
        </p:nvSpPr>
        <p:spPr>
          <a:xfrm>
            <a:off x="5539154" y="2325261"/>
            <a:ext cx="5192975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200" b="1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Limitations :</a:t>
            </a:r>
          </a:p>
          <a:p>
            <a:endParaRPr lang="en-IN" sz="2200" dirty="0">
              <a:solidFill>
                <a:schemeClr val="tx2">
                  <a:lumMod val="50000"/>
                  <a:lumOff val="50000"/>
                </a:schemeClr>
              </a:solidFill>
              <a:latin typeface="HK Grotesk"/>
            </a:endParaRPr>
          </a:p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</a:t>
            </a:r>
            <a:r>
              <a:rPr lang="en-IN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Depends on server availability</a:t>
            </a:r>
          </a:p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</a:t>
            </a:r>
            <a:r>
              <a:rPr lang="en-IN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Manual data entry required</a:t>
            </a:r>
          </a:p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--</a:t>
            </a:r>
            <a:r>
              <a:rPr lang="en-IN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Performance depends on the network</a:t>
            </a:r>
          </a:p>
          <a:p>
            <a:endParaRPr lang="en-US" sz="2200" dirty="0">
              <a:solidFill>
                <a:schemeClr val="tx2">
                  <a:lumMod val="50000"/>
                  <a:lumOff val="50000"/>
                </a:schemeClr>
              </a:solidFill>
              <a:latin typeface="HK Grotesk"/>
            </a:endParaRPr>
          </a:p>
          <a:p>
            <a:r>
              <a:rPr lang="en-US" sz="2200" dirty="0">
                <a:solidFill>
                  <a:schemeClr val="tx2">
                    <a:lumMod val="50000"/>
                    <a:lumOff val="50000"/>
                  </a:schemeClr>
                </a:solidFill>
                <a:latin typeface="HK Grotesk"/>
              </a:rPr>
              <a:t>These limitations can be improved in future versions.</a:t>
            </a:r>
            <a:endParaRPr lang="en-IN" sz="2200" dirty="0">
              <a:solidFill>
                <a:schemeClr val="tx2">
                  <a:lumMod val="50000"/>
                  <a:lumOff val="50000"/>
                </a:schemeClr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101555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4278" y="1091682"/>
            <a:ext cx="8938725" cy="506652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402424" y="550506"/>
            <a:ext cx="14835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Postman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04340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762" y="457200"/>
            <a:ext cx="10655559" cy="6055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309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44" y="485192"/>
            <a:ext cx="10291665" cy="549573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flipH="1">
            <a:off x="4813661" y="6102220"/>
            <a:ext cx="348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Azure database connection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58034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29" y="205274"/>
            <a:ext cx="11000792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 flipH="1">
            <a:off x="4300478" y="5887616"/>
            <a:ext cx="35558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Azure backend connection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30827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6203" y="130629"/>
            <a:ext cx="9153331" cy="538376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80318" y="5598367"/>
            <a:ext cx="6400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 GitHub Actions successfully build and deploy the backend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525214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92" y="83976"/>
            <a:ext cx="9554547" cy="555171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4131" y="5784980"/>
            <a:ext cx="48985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/>
              <a:t>Inside view of Deploy in GitHub Actions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955372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9722BF4-AD50-551C-D1E2-D1A56FFB43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3385"/>
            <a:ext cx="12192000" cy="615461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933DF1-7D6D-76F6-83B4-1C2F78BA6FA6}"/>
              </a:ext>
            </a:extLst>
          </p:cNvPr>
          <p:cNvSpPr txBox="1"/>
          <p:nvPr/>
        </p:nvSpPr>
        <p:spPr>
          <a:xfrm>
            <a:off x="193431" y="228599"/>
            <a:ext cx="4079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HOME PAGE OUTPUT:</a:t>
            </a:r>
          </a:p>
        </p:txBody>
      </p:sp>
    </p:spTree>
    <p:extLst>
      <p:ext uri="{BB962C8B-B14F-4D97-AF65-F5344CB8AC3E}">
        <p14:creationId xmlns:p14="http://schemas.microsoft.com/office/powerpoint/2010/main" val="1341215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4D9A069-5B52-4121-82CE-06B8743F4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06668"/>
            <a:ext cx="12192000" cy="62513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80D4D2A-E872-393F-700A-47D4AA90BEBC}"/>
              </a:ext>
            </a:extLst>
          </p:cNvPr>
          <p:cNvSpPr txBox="1"/>
          <p:nvPr/>
        </p:nvSpPr>
        <p:spPr>
          <a:xfrm>
            <a:off x="167054" y="166998"/>
            <a:ext cx="3050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 REGISTRATION PAGE:</a:t>
            </a:r>
          </a:p>
        </p:txBody>
      </p:sp>
    </p:spTree>
    <p:extLst>
      <p:ext uri="{BB962C8B-B14F-4D97-AF65-F5344CB8AC3E}">
        <p14:creationId xmlns:p14="http://schemas.microsoft.com/office/powerpoint/2010/main" val="739948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13D1D0-F62F-5D34-4F3E-6EB7403B8C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3046"/>
            <a:ext cx="12192000" cy="62249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4671C07-7CB4-7806-3974-8AB5237CEFD4}"/>
              </a:ext>
            </a:extLst>
          </p:cNvPr>
          <p:cNvSpPr txBox="1"/>
          <p:nvPr/>
        </p:nvSpPr>
        <p:spPr>
          <a:xfrm>
            <a:off x="175845" y="184638"/>
            <a:ext cx="31652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 LOGIN PAGE:</a:t>
            </a:r>
          </a:p>
        </p:txBody>
      </p:sp>
    </p:spTree>
    <p:extLst>
      <p:ext uri="{BB962C8B-B14F-4D97-AF65-F5344CB8AC3E}">
        <p14:creationId xmlns:p14="http://schemas.microsoft.com/office/powerpoint/2010/main" val="614778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36ED4D-69BF-95CE-E841-8EAF94A69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1838"/>
            <a:ext cx="12192000" cy="621616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410576-705D-0E7C-C1DC-AE9FCBCBB610}"/>
              </a:ext>
            </a:extLst>
          </p:cNvPr>
          <p:cNvSpPr txBox="1"/>
          <p:nvPr/>
        </p:nvSpPr>
        <p:spPr>
          <a:xfrm>
            <a:off x="272562" y="228600"/>
            <a:ext cx="37894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 DASHBOARD:</a:t>
            </a:r>
          </a:p>
        </p:txBody>
      </p:sp>
    </p:spTree>
    <p:extLst>
      <p:ext uri="{BB962C8B-B14F-4D97-AF65-F5344CB8AC3E}">
        <p14:creationId xmlns:p14="http://schemas.microsoft.com/office/powerpoint/2010/main" val="42423061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68F9EF-A690-46A2-91CF-CA2C1EC06F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615" y="791308"/>
            <a:ext cx="8475785" cy="58996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BC35009-092D-838C-74CC-3E7ACF4452B2}"/>
              </a:ext>
            </a:extLst>
          </p:cNvPr>
          <p:cNvSpPr txBox="1"/>
          <p:nvPr/>
        </p:nvSpPr>
        <p:spPr>
          <a:xfrm>
            <a:off x="861646" y="342845"/>
            <a:ext cx="3112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USER MODULES:</a:t>
            </a:r>
          </a:p>
        </p:txBody>
      </p:sp>
    </p:spTree>
    <p:extLst>
      <p:ext uri="{BB962C8B-B14F-4D97-AF65-F5344CB8AC3E}">
        <p14:creationId xmlns:p14="http://schemas.microsoft.com/office/powerpoint/2010/main" val="15075084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63441C-9998-0877-09CF-DE87515B61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03386"/>
            <a:ext cx="12192000" cy="596411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E423F5-5BB8-3BD7-EC98-A2F0B9E1E31A}"/>
              </a:ext>
            </a:extLst>
          </p:cNvPr>
          <p:cNvSpPr txBox="1"/>
          <p:nvPr/>
        </p:nvSpPr>
        <p:spPr>
          <a:xfrm>
            <a:off x="158262" y="190501"/>
            <a:ext cx="32179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MANAGER LOGIN PAGE:</a:t>
            </a:r>
          </a:p>
        </p:txBody>
      </p:sp>
    </p:spTree>
    <p:extLst>
      <p:ext uri="{BB962C8B-B14F-4D97-AF65-F5344CB8AC3E}">
        <p14:creationId xmlns:p14="http://schemas.microsoft.com/office/powerpoint/2010/main" val="8521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AB5B82-771C-3C0F-1702-DCAF7601FC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7008"/>
            <a:ext cx="12192000" cy="59904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6A3434-6447-7199-9799-C454207E6DD6}"/>
              </a:ext>
            </a:extLst>
          </p:cNvPr>
          <p:cNvSpPr txBox="1"/>
          <p:nvPr/>
        </p:nvSpPr>
        <p:spPr>
          <a:xfrm>
            <a:off x="351692" y="190500"/>
            <a:ext cx="2857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MANAGER DASHBOARD:</a:t>
            </a:r>
          </a:p>
        </p:txBody>
      </p:sp>
    </p:spTree>
    <p:extLst>
      <p:ext uri="{BB962C8B-B14F-4D97-AF65-F5344CB8AC3E}">
        <p14:creationId xmlns:p14="http://schemas.microsoft.com/office/powerpoint/2010/main" val="2711206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6E840C-B8D2-00CD-8A25-F75CA791A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163" y="984738"/>
            <a:ext cx="6457950" cy="211015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5E7875-9EEC-9840-FFC9-A33CFB8770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2458" y="3666391"/>
            <a:ext cx="6515100" cy="27813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8926FC-9D1C-20EA-FE95-F632C670B1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827" y="1091714"/>
            <a:ext cx="6197111" cy="257467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F8DCF3E-37BF-115E-B48E-CFEE6F86170C}"/>
              </a:ext>
            </a:extLst>
          </p:cNvPr>
          <p:cNvSpPr txBox="1"/>
          <p:nvPr/>
        </p:nvSpPr>
        <p:spPr>
          <a:xfrm>
            <a:off x="413238" y="410309"/>
            <a:ext cx="29102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MANAGER  MODULES:</a:t>
            </a:r>
          </a:p>
        </p:txBody>
      </p:sp>
    </p:spTree>
    <p:extLst>
      <p:ext uri="{BB962C8B-B14F-4D97-AF65-F5344CB8AC3E}">
        <p14:creationId xmlns:p14="http://schemas.microsoft.com/office/powerpoint/2010/main" val="1045809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BF7383-BB4D-D954-A609-423A38AC33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8554"/>
            <a:ext cx="12192000" cy="592894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C3AEADB-600F-DD38-3429-FD37B7C80F17}"/>
              </a:ext>
            </a:extLst>
          </p:cNvPr>
          <p:cNvSpPr txBox="1"/>
          <p:nvPr/>
        </p:nvSpPr>
        <p:spPr>
          <a:xfrm>
            <a:off x="202223" y="290146"/>
            <a:ext cx="32443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ADMIN LOGIN PAGE:</a:t>
            </a:r>
          </a:p>
        </p:txBody>
      </p:sp>
    </p:spTree>
    <p:extLst>
      <p:ext uri="{BB962C8B-B14F-4D97-AF65-F5344CB8AC3E}">
        <p14:creationId xmlns:p14="http://schemas.microsoft.com/office/powerpoint/2010/main" val="128651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39EA25-24A4-9A56-FDCE-BD93FA81A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08" y="571500"/>
            <a:ext cx="12086492" cy="57941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273134-EC8B-03E6-F8AA-8FB5B0654881}"/>
              </a:ext>
            </a:extLst>
          </p:cNvPr>
          <p:cNvSpPr txBox="1"/>
          <p:nvPr/>
        </p:nvSpPr>
        <p:spPr>
          <a:xfrm>
            <a:off x="184638" y="169203"/>
            <a:ext cx="28399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ADMIN DASHBOARD: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3591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736539-9BC3-DE0E-5B6F-068170E3F9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46" y="1116623"/>
            <a:ext cx="5074262" cy="318281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00B7E2-9B87-8495-5BE4-E2F2404695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740" y="1116623"/>
            <a:ext cx="6108822" cy="31828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02CCCA-148C-CAB6-9CC7-4694BF0ACFD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946" y="4299438"/>
            <a:ext cx="5610592" cy="23083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C75398-C873-45D2-A47D-3A5C937628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2538" y="4299438"/>
            <a:ext cx="5423024" cy="23083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4B6DF28-16A3-1560-C54F-2B6C0D820402}"/>
              </a:ext>
            </a:extLst>
          </p:cNvPr>
          <p:cNvSpPr txBox="1"/>
          <p:nvPr/>
        </p:nvSpPr>
        <p:spPr>
          <a:xfrm>
            <a:off x="694593" y="342900"/>
            <a:ext cx="39829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ADMIN MODULES:</a:t>
            </a:r>
          </a:p>
        </p:txBody>
      </p:sp>
    </p:spTree>
    <p:extLst>
      <p:ext uri="{BB962C8B-B14F-4D97-AF65-F5344CB8AC3E}">
        <p14:creationId xmlns:p14="http://schemas.microsoft.com/office/powerpoint/2010/main" val="41738584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6589B-FEE7-A8F5-FDC1-5E4CE6605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155">
            <a:extLst>
              <a:ext uri="{FF2B5EF4-FFF2-40B4-BE49-F238E27FC236}">
                <a16:creationId xmlns:a16="http://schemas.microsoft.com/office/drawing/2014/main" id="{972D5C13-5D61-1593-FA2D-EA5593266B4D}"/>
              </a:ext>
            </a:extLst>
          </p:cNvPr>
          <p:cNvSpPr/>
          <p:nvPr/>
        </p:nvSpPr>
        <p:spPr>
          <a:xfrm>
            <a:off x="273075" y="211475"/>
            <a:ext cx="10102565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solidFill>
                  <a:srgbClr val="0187CC"/>
                </a:solidFill>
                <a:latin typeface="HK Grotesk" pitchFamily="2" charset="77"/>
              </a:rPr>
              <a:t>Banking Management System</a:t>
            </a:r>
            <a:endParaRPr lang="en-US" sz="3200" b="1" dirty="0">
              <a:solidFill>
                <a:srgbClr val="0187CC"/>
              </a:solidFill>
              <a:latin typeface="HK Grotesk Bold"/>
            </a:endParaRPr>
          </a:p>
        </p:txBody>
      </p:sp>
      <p:pic>
        <p:nvPicPr>
          <p:cNvPr id="2" name="Picture 1" descr="Logo&#10;&#10;Description automatically generated">
            <a:extLst>
              <a:ext uri="{FF2B5EF4-FFF2-40B4-BE49-F238E27FC236}">
                <a16:creationId xmlns:a16="http://schemas.microsoft.com/office/drawing/2014/main" id="{95C40562-F4A2-2D9C-448C-97821570A0EA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30" y="6397884"/>
            <a:ext cx="645766" cy="422937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17EE920E-4C56-26D2-4ED3-A066CB5E6675}"/>
              </a:ext>
            </a:extLst>
          </p:cNvPr>
          <p:cNvSpPr txBox="1"/>
          <p:nvPr/>
        </p:nvSpPr>
        <p:spPr>
          <a:xfrm>
            <a:off x="4424757" y="6418579"/>
            <a:ext cx="6259403" cy="240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60"/>
              </a:lnSpc>
              <a:spcBef>
                <a:spcPct val="0"/>
              </a:spcBef>
            </a:pPr>
            <a:r>
              <a:rPr lang="en-US" sz="1400" spc="140" dirty="0">
                <a:solidFill>
                  <a:srgbClr val="000000"/>
                </a:solidFill>
                <a:latin typeface="HK Grotesk Light"/>
              </a:rPr>
              <a:t>2024 - RPS Consulting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DDA0B2-A999-63EE-78A4-5F2760E59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35010-364B-470B-BB6C-DCBBE63D2E54}" type="slidenum">
              <a:rPr lang="en-US" smtClean="0">
                <a:solidFill>
                  <a:schemeClr val="tx1"/>
                </a:solidFill>
              </a:rPr>
              <a:t>29</a:t>
            </a:fld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2546C-1ED3-CD73-B5E6-3C48EBA36D77}"/>
              </a:ext>
            </a:extLst>
          </p:cNvPr>
          <p:cNvSpPr txBox="1"/>
          <p:nvPr/>
        </p:nvSpPr>
        <p:spPr>
          <a:xfrm>
            <a:off x="273075" y="975925"/>
            <a:ext cx="1021509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200" b="1" dirty="0">
                <a:solidFill>
                  <a:srgbClr val="0187CC"/>
                </a:solidFill>
                <a:latin typeface="HK Grotesk"/>
              </a:rPr>
              <a:t>Conclusion: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This Banking Account Management System is our full-stack web application that helps administrators track and manage customer bank accounts effectively.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b="1" dirty="0">
                <a:solidFill>
                  <a:srgbClr val="0187CC"/>
                </a:solidFill>
                <a:latin typeface="HK Grotesk"/>
              </a:rPr>
              <a:t>It provides: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--Centralized Account Management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--Real-time Transaction Processing (Deposit/Withdrawal)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--Detailed Transaction History and Reports</a:t>
            </a: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--Secure Cloud Deployment on Azure</a:t>
            </a:r>
          </a:p>
          <a:p>
            <a:endParaRPr lang="en-US" sz="2200" dirty="0">
              <a:solidFill>
                <a:srgbClr val="0187CC"/>
              </a:solidFill>
              <a:latin typeface="HK Grotesk"/>
            </a:endParaRPr>
          </a:p>
          <a:p>
            <a:r>
              <a:rPr lang="en-US" sz="2200" dirty="0">
                <a:solidFill>
                  <a:srgbClr val="0187CC"/>
                </a:solidFill>
                <a:latin typeface="HK Grotesk"/>
              </a:rPr>
              <a:t>At last, our Capstone project demonstrates practical implementation of modern web technologies including Angular, Spring Boot, and PostgreSQL to solve real-world banking challenges.</a:t>
            </a:r>
            <a:endParaRPr lang="en-IN" sz="2200" dirty="0">
              <a:solidFill>
                <a:srgbClr val="0187CC"/>
              </a:solidFill>
              <a:latin typeface="HK Grotesk"/>
            </a:endParaRPr>
          </a:p>
        </p:txBody>
      </p:sp>
    </p:spTree>
    <p:extLst>
      <p:ext uri="{BB962C8B-B14F-4D97-AF65-F5344CB8AC3E}">
        <p14:creationId xmlns:p14="http://schemas.microsoft.com/office/powerpoint/2010/main" val="2698989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C54FF7F-2A03-D0DE-4C12-1D1C18680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84" y="0"/>
            <a:ext cx="1011115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8805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Wipro Presentation 02</Template>
  <TotalTime>497</TotalTime>
  <Words>1035</Words>
  <Application>Microsoft Office PowerPoint</Application>
  <PresentationFormat>Widescreen</PresentationFormat>
  <Paragraphs>250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HK Grotesk</vt:lpstr>
      <vt:lpstr>HK Grotesk Bold</vt:lpstr>
      <vt:lpstr>HK Grotesk Light</vt:lpstr>
      <vt:lpstr>HK Grotesk Light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kumar 09</dc:creator>
  <cp:lastModifiedBy>aa</cp:lastModifiedBy>
  <cp:revision>9</cp:revision>
  <dcterms:created xsi:type="dcterms:W3CDTF">2026-02-08T06:52:19Z</dcterms:created>
  <dcterms:modified xsi:type="dcterms:W3CDTF">2026-02-10T06:28:29Z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80f486e-1d0b-4fd6-a73f-04d94048a140_Enabled">
    <vt:lpwstr>true</vt:lpwstr>
  </property>
  <property fmtid="{D5CDD505-2E9C-101B-9397-08002B2CF9AE}" pid="3" name="MSIP_Label_e80f486e-1d0b-4fd6-a73f-04d94048a140_SetDate">
    <vt:lpwstr>2026-02-04T04:06:58Z</vt:lpwstr>
  </property>
  <property fmtid="{D5CDD505-2E9C-101B-9397-08002B2CF9AE}" pid="4" name="MSIP_Label_e80f486e-1d0b-4fd6-a73f-04d94048a140_Method">
    <vt:lpwstr>Standard</vt:lpwstr>
  </property>
  <property fmtid="{D5CDD505-2E9C-101B-9397-08002B2CF9AE}" pid="5" name="MSIP_Label_e80f486e-1d0b-4fd6-a73f-04d94048a140_Name">
    <vt:lpwstr>General - RPS Data</vt:lpwstr>
  </property>
  <property fmtid="{D5CDD505-2E9C-101B-9397-08002B2CF9AE}" pid="6" name="MSIP_Label_e80f486e-1d0b-4fd6-a73f-04d94048a140_SiteId">
    <vt:lpwstr>6565c732-1653-4ffe-b9d3-80a4f1c0c25d</vt:lpwstr>
  </property>
  <property fmtid="{D5CDD505-2E9C-101B-9397-08002B2CF9AE}" pid="7" name="MSIP_Label_e80f486e-1d0b-4fd6-a73f-04d94048a140_ActionId">
    <vt:lpwstr>0c3cc09a-e54e-4ae4-a9fa-efa3f9d629ce</vt:lpwstr>
  </property>
  <property fmtid="{D5CDD505-2E9C-101B-9397-08002B2CF9AE}" pid="8" name="MSIP_Label_e80f486e-1d0b-4fd6-a73f-04d94048a140_ContentBits">
    <vt:lpwstr>2</vt:lpwstr>
  </property>
  <property fmtid="{D5CDD505-2E9C-101B-9397-08002B2CF9AE}" pid="9" name="MSIP_Label_e80f486e-1d0b-4fd6-a73f-04d94048a140_Tag">
    <vt:lpwstr>10, 3, 0, 1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General - RPS Data</vt:lpwstr>
  </property>
</Properties>
</file>